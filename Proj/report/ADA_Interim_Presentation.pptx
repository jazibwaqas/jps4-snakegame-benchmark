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731520"/>
            <a:ext cx="2926080" cy="29260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ADA INTERIM DEMO  ·  WEEK 13  · 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Benchmarking Shortest-Path</a:t>
            </a:r>
          </a:p>
          <a:p>
            <a:pPr algn="l">
              <a:spcBef>
                <a:spcPts val="200"/>
              </a:spcBef>
            </a:pPr>
            <a:r>
              <a:rPr sz="3600" b="1" i="0">
                <a:solidFill>
                  <a:srgbClr val="FFFFFF"/>
                </a:solidFill>
              </a:rPr>
              <a:t>Algorithms on 4-Connected Grid Maps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10B981"/>
                </a:solidFill>
              </a:rPr>
              <a:t>Dijkstra  ·  A*  ·  Jump Point Search (JPS4)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411480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BD5E1"/>
                </a:solidFill>
              </a:rPr>
              <a:t>Jazib Waqas   ·   Salman Adnan   ·   Hunain Abbas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64748B"/>
                </a:solidFill>
              </a:rPr>
              <a:t>jw08048  ·  sa07885  ·  sh08466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64748B"/>
                </a:solidFill>
              </a:rPr>
              <a:t>Habib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What is the Problem?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CBD5E1"/>
                </a:solidFill>
              </a:rPr>
              <a:t>Grid-based pathfinding: find the shortest path from A to B on a grid where some cells are blocked.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CBD5E1"/>
                </a:solidFill>
              </a:rPr>
              <a:t>4-connected grid: each cell links to its 4 cardinal neighbours only (up, down, left, right) — no diagonals.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CBD5E1"/>
                </a:solidFill>
              </a:rPr>
              <a:t>A naive search visits every reachable cell before confirming the shortest path. Too slow on large maps.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Why Does It Matter?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🎮  Game AI — characters navigating around walls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CBD5E1"/>
                </a:solidFill>
              </a:rPr>
              <a:t>🤖  Robotics — route planning in warehouses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CBD5E1"/>
                </a:solidFill>
              </a:rPr>
              <a:t>📦  Logistics — efficient path finding on maps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64748B"/>
                </a:solidFill>
              </a:rPr>
              <a:t>Pathfinding runs thousands of times per second in real systems — small improvements matter at scale.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914400"/>
            <a:ext cx="557784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914400"/>
            <a:ext cx="64008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078992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Dijkstra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CBD5E1"/>
                </a:solidFill>
              </a:rPr>
              <a:t>No heuristic. Searches in all directions equally. Slow but guaranteed optimal.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788920"/>
            <a:ext cx="557784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788920"/>
            <a:ext cx="64008" cy="1691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953512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A*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CBD5E1"/>
                </a:solidFill>
              </a:rPr>
              <a:t>Adds a heuristic (Manhattan distance). Focuses search toward the goal. Fast &amp; optimal.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663440"/>
            <a:ext cx="557784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4663440"/>
            <a:ext cx="64008" cy="1691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828031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JPS4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CBD5E1"/>
                </a:solidFill>
              </a:rPr>
              <a:t>Skips empty space via jump points. Only stops where routing decisions are forced. Fewest expansions on open maps.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0B981"/>
                </a:solidFill>
              </a:rPr>
              <a:t>Our question: which algorithm visits the fewest cells — and why?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Methodology — How the Algorithms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77240"/>
            <a:ext cx="3749039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777240"/>
            <a:ext cx="3749039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046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DIJKSTRA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Baseline — No Heuristic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Expands cells in order of distance from the start (cost d before d+1)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CBD5E1"/>
                </a:solidFill>
              </a:rPr>
              <a:t>• No knowledge of where the goal is → searches equally in all directions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CBD5E1"/>
                </a:solidFill>
              </a:rPr>
              <a:t>• Must map the entire reachable area before confirming the shortest path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CBD5E1"/>
                </a:solidFill>
              </a:rPr>
              <a:t>• Always optimal, but wastes significant effort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777240"/>
            <a:ext cx="3749039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777240"/>
            <a:ext cx="3749039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8046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Heuristic-Guided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5087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At each step, picks the cell with lowest (current cost + Manhattan distance to goal)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CBD5E1"/>
                </a:solidFill>
              </a:rPr>
              <a:t>• Manhattan distance is a valid lower bound on a 4-connected grid → still optimal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CBD5E1"/>
                </a:solidFill>
              </a:rPr>
              <a:t>• Focuses the search toward the goal, skipping cells in the wrong direction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CBD5E1"/>
                </a:solidFill>
              </a:rPr>
              <a:t>• Roughly half the expansions of Dijkstra on open maps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777240"/>
            <a:ext cx="3749039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777240"/>
            <a:ext cx="3749039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7" y="8046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JPS4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Jump Point Search (4-Connected)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5087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Asks at every cell: can I skip ahead without missing anything useful?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CBD5E1"/>
                </a:solidFill>
              </a:rPr>
              <a:t>• Straight-line runs through open space: every cell has identical cost &amp; options → skip them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CBD5E1"/>
                </a:solidFill>
              </a:rPr>
              <a:t>• Only stops at jump points: where an obstacle creates a forced routing choice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CBD5E1"/>
                </a:solidFill>
              </a:rPr>
              <a:t>• Baum (2025) formalizes this for cardinal-only movement — different rules than 8-connected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6263640"/>
            <a:ext cx="11548872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2910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0B981"/>
                </a:solidFill>
              </a:rPr>
              <a:t>⚖  Fair comparison: all 3 algorithms share the same search loop. Only the heuristic and neighbour-finding function differ. Any result difference is purely algorithmic.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Preliminary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50×50 grids  ·  3 obstacle densities (15%, 28%, 40%)  ·  24 trials each  ·  seed 42  ·  start &amp; goal maximally separated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5669280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1247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Algorithm      15% Exp  ms     28% Exp  ms     40% Exp  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35607"/>
            <a:ext cx="566928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527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Dijkstra        2062   7.07      1659   4.96       915   2.73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37943"/>
            <a:ext cx="5669280" cy="402336"/>
          </a:xfrm>
          <a:prstGeom prst="rect">
            <a:avLst/>
          </a:prstGeom>
          <a:solidFill>
            <a:srgbClr val="18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9293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A*              1020   3.74       629   2.11       513   1.70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240279"/>
            <a:ext cx="566928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JPS4             488   4.43       970   6.22       682   3.13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688335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Exp = mean node expansions   ·   ms = mean wall-clock time   ·   24 trials per density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005840"/>
            <a:ext cx="5669280" cy="3108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1031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</a:rPr>
              <a:t>[Figure: results_combined.png — add manually if missing]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1605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</a:rPr>
              <a:t>Figure 1: Mean node expansions (left) and wall-clock time (right) vs. obstacle density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6634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✓  A* cuts Dijkstra's expansions by ~50% at all densities — the heuristic consistently helps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10235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</a:rPr>
              <a:t>✓  JPS4 wins at LOW density: 488 vs 1020 nodes (52% fewer than A*) — open maps = long jumps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54126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⚠  JPS4 SLOWER than A* at medium density: obstacles make jumps short, overhead stays constant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980175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⏱  JPS4 slower on the clock in Python — compiled code (C++/Java) removes this overhead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Challenges &amp; Next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CHALLENGES IDENTIFIED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548640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161288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1795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61288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Fair Timing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CBD5E1"/>
                </a:solidFill>
              </a:rPr>
              <a:t>Python amplifies JPS4's inner-loop cost. Node expansions give a cleaner algorithmic picture right now. Plan: profile the loop and optimize data access patterns.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715768"/>
            <a:ext cx="548640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2825496"/>
            <a:ext cx="457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8437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25496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Grid Size Too Small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CBD5E1"/>
                </a:solidFill>
              </a:rPr>
              <a:t>On 50×50 all algorithms finish in &lt;10ms — timing noise obscures differences. JPS4's advantage grows with corridor length, so we need 100×100 and 200×200 scale tests.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379976"/>
            <a:ext cx="548640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" y="4489704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4507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9704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Density Cross-Over Unknown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CBD5E1"/>
                </a:solidFill>
              </a:rPr>
              <a:t>JPS4 outperforms A* at low density but not at medium. We don't know exactly where the break-even point is — finding it is the key open question.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6858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NEXT PLAN</a:t>
            </a:r>
          </a:p>
        </p:txBody>
      </p:sp>
      <p:sp>
        <p:nvSpPr>
          <p:cNvPr id="18" name="Oval 17"/>
          <p:cNvSpPr/>
          <p:nvPr/>
        </p:nvSpPr>
        <p:spPr>
          <a:xfrm>
            <a:off x="6080760" y="1188719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389888"/>
            <a:ext cx="18288" cy="1216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051560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Week 13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BD5E1"/>
                </a:solidFill>
              </a:rPr>
              <a:t>Scale benchmarks to 100×100 and 200×200 grids. Sweep density 5–50% in 5% steps to locate the A*/JPS4 cross-over point. This is the core dataset for the final report.</a:t>
            </a:r>
          </a:p>
        </p:txBody>
      </p:sp>
      <p:sp>
        <p:nvSpPr>
          <p:cNvPr id="21" name="Oval 20"/>
          <p:cNvSpPr/>
          <p:nvPr/>
        </p:nvSpPr>
        <p:spPr>
          <a:xfrm>
            <a:off x="6080760" y="2606040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807208"/>
            <a:ext cx="18288" cy="1216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468880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Week 13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BD5E1"/>
                </a:solidFill>
              </a:rPr>
              <a:t>Complete the Snake-game visualization. Each algorithm shown separately with explored cells colored distinctly — makes the search strategies immediately visible.</a:t>
            </a:r>
          </a:p>
        </p:txBody>
      </p:sp>
      <p:sp>
        <p:nvSpPr>
          <p:cNvPr id="24" name="Oval 23"/>
          <p:cNvSpPr/>
          <p:nvPr/>
        </p:nvSpPr>
        <p:spPr>
          <a:xfrm>
            <a:off x="6080760" y="4023360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4224528"/>
            <a:ext cx="18288" cy="1216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886200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Week 14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BD5E1"/>
                </a:solidFill>
              </a:rPr>
              <a:t>Finalize all tables and figures. Write the discussion comparing results to literature. Bring the paper to final submission quality.</a:t>
            </a:r>
          </a:p>
        </p:txBody>
      </p:sp>
      <p:sp>
        <p:nvSpPr>
          <p:cNvPr id="27" name="Oval 26"/>
          <p:cNvSpPr/>
          <p:nvPr/>
        </p:nvSpPr>
        <p:spPr>
          <a:xfrm>
            <a:off x="6080760" y="5440680"/>
            <a:ext cx="201168" cy="20116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303520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Week 15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BD5E1"/>
                </a:solidFill>
              </a:rPr>
              <a:t>Prepare final presentation slides. Rehearse the live demo. Submit by deadline.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