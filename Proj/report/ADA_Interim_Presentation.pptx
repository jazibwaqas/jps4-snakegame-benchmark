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ps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920240"/>
            <a:ext cx="3672418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HABIB UNIVERSITY  |  ALGORITHM DESIGN &amp;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EF2F7"/>
                </a:solidFill>
                <a:latin typeface="Calibri"/>
              </a:rPr>
              <a:t>Comparing Shortest-Path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EF2F7"/>
                </a:solidFill>
                <a:latin typeface="Calibri"/>
              </a:rPr>
              <a:t>Algorithms on Grid Maps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Dijkstra vs A* vs JPS4 on 4-connected grids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23360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E0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EF2F7"/>
                </a:solidFill>
                <a:latin typeface="Calibri"/>
              </a:rPr>
              <a:t>Dijkstra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4023360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4D9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4023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EF2F7"/>
                </a:solidFill>
                <a:latin typeface="Calibri"/>
              </a:rPr>
              <a:t>A*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4023360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4023360"/>
            <a:ext cx="1417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EF2F7"/>
                </a:solidFill>
                <a:latin typeface="Calibri"/>
              </a:rPr>
              <a:t>JPS4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4A3B8"/>
                </a:solidFill>
                <a:latin typeface="Calibri"/>
              </a:rPr>
              <a:t>Interim Progress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EF2F7"/>
                </a:solidFill>
                <a:latin typeface="Calibri"/>
              </a:rPr>
              <a:t>Jazib Waqas    |    Salman Adnan    |    Hunain Abbas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jw08048 . sa07885 . sh08466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ADA Progress Report  |  Habib University  |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73152" cy="5029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EF2F7"/>
                </a:solidFill>
                <a:latin typeface="Calibri"/>
              </a:rPr>
              <a:t>Three Algorithms, One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Shortest path on a 4-connected grid. Same input, very different behavior.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78308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E0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EF2F7"/>
                </a:solidFill>
                <a:latin typeface="Calibri"/>
              </a:rPr>
              <a:t>DIJKSTRA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05C5C"/>
                </a:solidFill>
                <a:latin typeface="Calibri"/>
              </a:rPr>
              <a:t>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EF2F7"/>
                </a:solidFill>
                <a:latin typeface="Calibri"/>
              </a:rPr>
              <a:t>Explores every reachable cell in order of distance from start. Always correct, but has no sense of where the goal is, so it essentially maps the entire reachable area first.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83480"/>
            <a:ext cx="3108960" cy="731520"/>
          </a:xfrm>
          <a:prstGeom prst="roundRect">
            <a:avLst>
              <a:gd name="adj" fmla="val 8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Calibri"/>
              </a:rPr>
              <a:t>Mechanism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E05C5C"/>
                </a:solidFill>
                <a:latin typeface="Calibri"/>
              </a:rPr>
              <a:t>Uniform wavefront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78308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7680" y="178308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4D9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7830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EF2F7"/>
                </a:solidFill>
                <a:latin typeface="Calibri"/>
              </a:rPr>
              <a:t>A*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D94E0"/>
                </a:solidFill>
                <a:latin typeface="Calibri"/>
              </a:rPr>
              <a:t>Heuristic guided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01752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EF2F7"/>
                </a:solidFill>
                <a:latin typeface="Calibri"/>
              </a:rPr>
              <a:t>Adds Manhattan distance to the goal as a lower-bound estimate. Picks the cell with the lowest total estimated cost at each step, so the search moves toward the goal instead of spreading evenly.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983480"/>
            <a:ext cx="3108960" cy="731520"/>
          </a:xfrm>
          <a:prstGeom prst="roundRect">
            <a:avLst>
              <a:gd name="adj" fmla="val 8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50292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Calibri"/>
              </a:rPr>
              <a:t>Mechanism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492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4D94E0"/>
                </a:solidFill>
                <a:latin typeface="Calibri"/>
              </a:rPr>
              <a:t>Goal-biased 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178308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59" y="178308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59" y="17830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EF2F7"/>
                </a:solidFill>
                <a:latin typeface="Calibri"/>
              </a:rPr>
              <a:t>JPS4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A02C"/>
                </a:solidFill>
                <a:latin typeface="Calibri"/>
              </a:rPr>
              <a:t>Baum (2025)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01752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EF2F7"/>
                </a:solidFill>
                <a:latin typeface="Calibri"/>
              </a:rPr>
              <a:t>Skips over long open corridors entirely. Stops only at jump points, places where an obstacle forces a real routing choice. Only those cells enter the open list, so the list stays small.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4983480"/>
            <a:ext cx="3108960" cy="731520"/>
          </a:xfrm>
          <a:prstGeom prst="roundRect">
            <a:avLst>
              <a:gd name="adj" fmla="val 8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50292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Calibri"/>
              </a:rPr>
              <a:t>Mechanism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3492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2CA02C"/>
                </a:solidFill>
                <a:latin typeface="Calibri"/>
              </a:rPr>
              <a:t>Symmetry pruning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All three guarantee the same shortest path. The difference is how many cells each one has to look 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ADA Progress Report  |  Habib University  |  Spring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73152" cy="5029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EF2F7"/>
                </a:solidFill>
                <a:latin typeface="Calibr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Same benchmark, same grids, same search loop. Only the algorithm swaps.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Calibri"/>
              </a:rPr>
              <a:t>Benchmark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GRID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7"/>
                </a:solidFill>
                <a:latin typeface="Calibri"/>
              </a:rPr>
              <a:t>50 x 50 random obstacles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DENSITIES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6499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7"/>
                </a:solidFill>
                <a:latin typeface="Calibri"/>
              </a:rPr>
              <a:t>15 percent, 28 percent, 40 percent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49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TRIALS PER DENSITY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0507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7"/>
                </a:solidFill>
                <a:latin typeface="Calibri"/>
              </a:rPr>
              <a:t>24 accepted 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3891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SEED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4515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7"/>
                </a:solidFill>
                <a:latin typeface="Calibri"/>
              </a:rPr>
              <a:t>42 (deterministic)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292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START AND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8523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7"/>
                </a:solidFill>
                <a:latin typeface="Calibri"/>
              </a:rPr>
              <a:t>Placed far apart, verified reachable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692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ACCEPTANCE RULE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92531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7"/>
                </a:solidFill>
                <a:latin typeface="Calibri"/>
              </a:rPr>
              <a:t>Trial counted only if all three algorithms succeed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737360"/>
            <a:ext cx="5623560" cy="4572000"/>
          </a:xfrm>
          <a:prstGeom prst="roundRect">
            <a:avLst>
              <a:gd name="adj" fmla="val 8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874519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Calibri"/>
              </a:rPr>
              <a:t>Shared Search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One A* engine. Heuristic and successor function plug in per algorithm.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834640"/>
            <a:ext cx="2194560" cy="77724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283464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astar_jps( 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3657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heap-based open list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617720"/>
            <a:ext cx="1691640" cy="1280160"/>
          </a:xfrm>
          <a:prstGeom prst="roundRect">
            <a:avLst>
              <a:gd name="adj" fmla="val 8000"/>
            </a:avLst>
          </a:prstGeom>
          <a:solidFill>
            <a:srgbClr val="1A253D"/>
          </a:solidFill>
          <a:ln w="12700">
            <a:solidFill>
              <a:srgbClr val="E0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0" y="4617720"/>
            <a:ext cx="1691640" cy="320040"/>
          </a:xfrm>
          <a:prstGeom prst="roundRect">
            <a:avLst>
              <a:gd name="adj" fmla="val 8000"/>
            </a:avLst>
          </a:prstGeom>
          <a:solidFill>
            <a:srgbClr val="E0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617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EF2F7"/>
                </a:solidFill>
                <a:latin typeface="Calibri"/>
              </a:rPr>
              <a:t>Dijkstra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0176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EEF2F7"/>
                </a:solidFill>
                <a:latin typeface="Calibri"/>
              </a:rPr>
              <a:t>h =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330952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4-neighbour successors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4617720"/>
            <a:ext cx="1691640" cy="1280160"/>
          </a:xfrm>
          <a:prstGeom prst="roundRect">
            <a:avLst>
              <a:gd name="adj" fmla="val 8000"/>
            </a:avLst>
          </a:prstGeom>
          <a:solidFill>
            <a:srgbClr val="1A253D"/>
          </a:solidFill>
          <a:ln w="12700">
            <a:solidFill>
              <a:srgbClr val="4D9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92440" y="4617720"/>
            <a:ext cx="1691640" cy="320040"/>
          </a:xfrm>
          <a:prstGeom prst="roundRect">
            <a:avLst>
              <a:gd name="adj" fmla="val 8000"/>
            </a:avLst>
          </a:prstGeom>
          <a:solidFill>
            <a:srgbClr val="4D9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440" y="4617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EF2F7"/>
                </a:solidFill>
                <a:latin typeface="Calibri"/>
              </a:rPr>
              <a:t>A*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500176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EEF2F7"/>
                </a:solidFill>
                <a:latin typeface="Calibri"/>
              </a:rPr>
              <a:t>h = Manhattan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5330952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4-neighbour successors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617720"/>
            <a:ext cx="1691640" cy="1280160"/>
          </a:xfrm>
          <a:prstGeom prst="roundRect">
            <a:avLst>
              <a:gd name="adj" fmla="val 8000"/>
            </a:avLst>
          </a:prstGeom>
          <a:solidFill>
            <a:srgbClr val="1A253D"/>
          </a:solidFill>
          <a:ln w="127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784080" y="4617720"/>
            <a:ext cx="1691640" cy="320040"/>
          </a:xfrm>
          <a:prstGeom prst="roundRect">
            <a:avLst>
              <a:gd name="adj" fmla="val 8000"/>
            </a:avLst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4617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EF2F7"/>
                </a:solidFill>
                <a:latin typeface="Calibri"/>
              </a:rPr>
              <a:t>JPS4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19" y="500176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EEF2F7"/>
                </a:solidFill>
                <a:latin typeface="Calibri"/>
              </a:rPr>
              <a:t>h = Manhattan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19" y="5330952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jump-point successors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98932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EEF2F7"/>
                </a:solidFill>
                <a:latin typeface="Calibri"/>
              </a:rPr>
              <a:t>Any measured difference comes from the algorithm itself.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ADA Progress Report  |  Habib University  |  Spring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73152" cy="5029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EF2F7"/>
                </a:solidFill>
                <a:latin typeface="Calibri"/>
              </a:rPr>
              <a:t>Preliminary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Node expansions and wall-clock time vs. obstacle density. 24 trials each.</a:t>
            </a:r>
          </a:p>
        </p:txBody>
      </p:sp>
      <p:pic>
        <p:nvPicPr>
          <p:cNvPr id="6" name="Picture 5" descr="result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7223760" cy="291153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818120" y="1737360"/>
            <a:ext cx="3931920" cy="4572000"/>
          </a:xfrm>
          <a:prstGeom prst="roundRect">
            <a:avLst>
              <a:gd name="adj" fmla="val 8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874519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Calibri"/>
              </a:rPr>
              <a:t>Key Findings</a:t>
            </a:r>
          </a:p>
        </p:txBody>
      </p:sp>
      <p:sp>
        <p:nvSpPr>
          <p:cNvPr id="9" name="Oval 8"/>
          <p:cNvSpPr/>
          <p:nvPr/>
        </p:nvSpPr>
        <p:spPr>
          <a:xfrm>
            <a:off x="8092440" y="2487168"/>
            <a:ext cx="201168" cy="201168"/>
          </a:xfrm>
          <a:prstGeom prst="ellipse">
            <a:avLst/>
          </a:prstGeom>
          <a:solidFill>
            <a:srgbClr val="4D9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39572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EF2F7"/>
                </a:solidFill>
                <a:latin typeface="Calibri"/>
              </a:rPr>
              <a:t>A* halves Dijkstra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6974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Around 50 percent of Dijkstra's expansions at every density. Manhattan heuristic pays off consistently.</a:t>
            </a:r>
          </a:p>
        </p:txBody>
      </p:sp>
      <p:sp>
        <p:nvSpPr>
          <p:cNvPr id="12" name="Oval 11"/>
          <p:cNvSpPr/>
          <p:nvPr/>
        </p:nvSpPr>
        <p:spPr>
          <a:xfrm>
            <a:off x="8092440" y="3538728"/>
            <a:ext cx="201168" cy="201168"/>
          </a:xfrm>
          <a:prstGeom prst="ellipse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44728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EF2F7"/>
                </a:solidFill>
                <a:latin typeface="Calibri"/>
              </a:rPr>
              <a:t>JPS4 wins on open maps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49039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At 15 percent density, JPS4 visits only 488 nodes versus 2062 for Dijkstra. A 76 percent reduction.</a:t>
            </a:r>
          </a:p>
        </p:txBody>
      </p:sp>
      <p:sp>
        <p:nvSpPr>
          <p:cNvPr id="15" name="Oval 14"/>
          <p:cNvSpPr/>
          <p:nvPr/>
        </p:nvSpPr>
        <p:spPr>
          <a:xfrm>
            <a:off x="8092440" y="4590288"/>
            <a:ext cx="201168" cy="201168"/>
          </a:xfrm>
          <a:prstGeom prst="ellipse">
            <a:avLst/>
          </a:prstGeom>
          <a:solidFill>
            <a:srgbClr val="F5A6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449884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EF2F7"/>
                </a:solidFill>
                <a:latin typeface="Calibri"/>
              </a:rPr>
              <a:t>JPS4 loses on dense maps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8006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At 28 percent, JPS4 expands 970 cells versus A*'s 629. Shorter corridors mean shorter jumps.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5577840"/>
            <a:ext cx="3474720" cy="640080"/>
          </a:xfrm>
          <a:prstGeom prst="roundRect">
            <a:avLst>
              <a:gd name="adj" fmla="val 8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55778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2CA02C"/>
                </a:solidFill>
                <a:latin typeface="Calibri"/>
              </a:rPr>
              <a:t>CORRECTNESS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58521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EEF2F7"/>
                </a:solidFill>
                <a:latin typeface="Calibri"/>
              </a:rPr>
              <a:t>All three return equal path lengths on every trial.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ADA Progress Report  |  Habib University  |  Spring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